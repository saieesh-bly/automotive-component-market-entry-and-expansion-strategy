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AUTOMOTIVE COMPONENT</a:t>
            </a:r>
          </a:p>
          <a:p>
            <a:pPr>
              <a:defRPr sz="2500">
                <a:solidFill>
                  <a:srgbClr val="D2E1F0"/>
                </a:solidFill>
              </a:defRPr>
            </a:pPr>
            <a:r>
              <a:t>Market Entry &amp; Expansion Strategy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Management Presentation | Synthetic Consulting 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Executive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7"/>
                </a:solidFill>
              </a:defRPr>
            </a:pPr>
            <a:r>
              <a:t>A focused, phased entry is more defensible than broad market participation.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D32"/>
                </a:solidFill>
              </a:defRPr>
            </a:pPr>
            <a:r>
              <a:t>Prioritize a component family with demonstrated customer access and manufacturing fit.</a:t>
            </a:r>
          </a:p>
          <a:p>
            <a:pPr>
              <a:spcAft>
                <a:spcPts val="1200"/>
              </a:spcAft>
              <a:defRPr sz="1700">
                <a:solidFill>
                  <a:srgbClr val="282D32"/>
                </a:solidFill>
              </a:defRPr>
            </a:pPr>
            <a:r>
              <a:t>Treat EV components as a growth adjacency where technology and qualification capability can be secured.</a:t>
            </a:r>
          </a:p>
          <a:p>
            <a:pPr>
              <a:spcAft>
                <a:spcPts val="1200"/>
              </a:spcAft>
              <a:defRPr sz="1700">
                <a:solidFill>
                  <a:srgbClr val="282D32"/>
                </a:solidFill>
              </a:defRPr>
            </a:pPr>
            <a:r>
              <a:t>Use JV/partnership selectively when it materially accelerates customers or capability.</a:t>
            </a:r>
          </a:p>
          <a:p>
            <a:pPr>
              <a:spcAft>
                <a:spcPts val="1200"/>
              </a:spcAft>
              <a:defRPr sz="1700">
                <a:solidFill>
                  <a:srgbClr val="282D32"/>
                </a:solidFill>
              </a:defRPr>
            </a:pPr>
            <a:r>
              <a:t>Release capacity in stages against nominations, utilization and economics.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7"/>
                </a:solidFill>
              </a:defRPr>
            </a:pPr>
            <a:r>
              <a:t>Market growth is useful, but customer-level addressability determines the investable opportunity.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D32"/>
                </a:solidFill>
              </a:defRPr>
            </a:pPr>
            <a:r>
              <a:t>The case starts with a broad candidate component market and narrows it through TAM / SAM / SOM.</a:t>
            </a:r>
          </a:p>
          <a:p>
            <a:pPr>
              <a:spcAft>
                <a:spcPts val="1200"/>
              </a:spcAft>
              <a:defRPr sz="1700">
                <a:solidFill>
                  <a:srgbClr val="282D32"/>
                </a:solidFill>
              </a:defRPr>
            </a:pPr>
            <a:r>
              <a:t>Demand drivers include vehicle production, localization, EV transition and exports.</a:t>
            </a:r>
          </a:p>
          <a:p>
            <a:pPr>
              <a:spcAft>
                <a:spcPts val="1200"/>
              </a:spcAft>
              <a:defRPr sz="1700">
                <a:solidFill>
                  <a:srgbClr val="282D32"/>
                </a:solidFill>
              </a:defRPr>
            </a:pPr>
            <a:r>
              <a:t>Key constraints include OEM qualification cycles, technology requirements, raw-material volatility and price pressure.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Segment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7"/>
                </a:solidFill>
              </a:defRPr>
            </a:pPr>
            <a:r>
              <a:t>The base case favors scale + access + capability fit; higher-growth segments remain adjacencies.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9728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613954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Strategic role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Main issue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Auto Components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Primary base case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Competition / qualification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EV Components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Growth adjacency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Technology / access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Powertrain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Selective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Transition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Electronics &amp; Sensors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Capability-led option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Technology intensity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Interior / Body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Secondary option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Price competition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Commercial Vehicle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Focused niche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Smaller market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Competitive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7"/>
                </a:solidFill>
              </a:defRPr>
            </a:pPr>
            <a:r>
              <a:t>A new entrant needs a component-level right-to-win.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D32"/>
                </a:solidFill>
              </a:defRPr>
            </a:pPr>
            <a:r>
              <a:t>Large diversified Tier-1s are difficult to challenge without differentiated cost, technology or customer service.</a:t>
            </a:r>
          </a:p>
          <a:p>
            <a:pPr>
              <a:spcAft>
                <a:spcPts val="1200"/>
              </a:spcAft>
              <a:defRPr sz="1700">
                <a:solidFill>
                  <a:srgbClr val="282D32"/>
                </a:solidFill>
              </a:defRPr>
            </a:pPr>
            <a:r>
              <a:t>Specialist suppliers are the most relevant direct benchmark in focused component categories.</a:t>
            </a:r>
          </a:p>
          <a:p>
            <a:pPr>
              <a:spcAft>
                <a:spcPts val="1200"/>
              </a:spcAft>
              <a:defRPr sz="1700">
                <a:solidFill>
                  <a:srgbClr val="282D32"/>
                </a:solidFill>
              </a:defRPr>
            </a:pPr>
            <a:r>
              <a:t>Local niche suppliers can be partnership/acquisition candidates where customer relationships or certification matter.</a:t>
            </a:r>
          </a:p>
          <a:p>
            <a:pPr>
              <a:spcAft>
                <a:spcPts val="1200"/>
              </a:spcAft>
              <a:defRPr sz="1700">
                <a:solidFill>
                  <a:srgbClr val="282D32"/>
                </a:solidFill>
              </a:defRPr>
            </a:pPr>
            <a:r>
              <a:t>Potential differentiation: localization, quality, industrialization speed, engineering responsiveness and cost.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Entry 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7"/>
                </a:solidFill>
              </a:defRPr>
            </a:pPr>
            <a:r>
              <a:t>Choose the route based on the capability gap—not by default.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463040"/>
          <a:ext cx="1033272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676656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Route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Strength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Trade-off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Greenfield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Control / proprietary capability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Slower and capital intensive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JV / Partnership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Customer + capability acceleration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Shared economics/control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Acquisition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Fast access to customers/capability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Valuation/integration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Contract manufacturing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Low-commitment demand test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Limited control/differentiation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5074920"/>
            <a:ext cx="106070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82D32"/>
                </a:solidFill>
              </a:defRPr>
            </a:pPr>
            <a:r>
              <a:t>Base-case logic: test strategic partnership opportunities before committing to full-scale greenfield investment.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Capacity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7"/>
                </a:solidFill>
              </a:defRPr>
            </a:pPr>
            <a:r>
              <a:t>Capacity should follow commercial proof.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17320"/>
          <a:ext cx="1069848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749807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Installed capacity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Utilization logic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Investment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Launch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0.25 mn units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Ramp from ~35%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Initial CAPEX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Scale-up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0.25 mn units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Qualification + nominations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Hold expansion until evidence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</a:tr>
              <a:tr h="74980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Expansion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0.50 mn units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Utilization-led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Second-stage CAPEX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98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Mature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0.50 mn units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Toward ~80% ceiling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Maintenance / optimization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Business-case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7"/>
                </a:solidFill>
              </a:defRPr>
            </a:pPr>
            <a:r>
              <a:t>Commercial assumptions flow directly into investment economics.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D32"/>
                </a:solidFill>
              </a:defRPr>
            </a:pPr>
            <a:r>
              <a:t>Demand → target share → production volume.</a:t>
            </a:r>
          </a:p>
          <a:p>
            <a:pPr>
              <a:spcAft>
                <a:spcPts val="1200"/>
              </a:spcAft>
              <a:defRPr sz="1700">
                <a:solidFill>
                  <a:srgbClr val="282D32"/>
                </a:solidFill>
              </a:defRPr>
            </a:pPr>
            <a:r>
              <a:t>Production × ASP → revenue.</a:t>
            </a:r>
          </a:p>
          <a:p>
            <a:pPr>
              <a:spcAft>
                <a:spcPts val="1200"/>
              </a:spcAft>
              <a:defRPr sz="1700">
                <a:solidFill>
                  <a:srgbClr val="282D32"/>
                </a:solidFill>
              </a:defRPr>
            </a:pPr>
            <a:r>
              <a:t>Volume × variable cost + fixed plant cost → EBITDA.</a:t>
            </a:r>
          </a:p>
          <a:p>
            <a:pPr>
              <a:spcAft>
                <a:spcPts val="1200"/>
              </a:spcAft>
              <a:defRPr sz="1700">
                <a:solidFill>
                  <a:srgbClr val="282D32"/>
                </a:solidFill>
              </a:defRPr>
            </a:pPr>
            <a:r>
              <a:t>Initial + expansion + maintenance CAPEX → free cash flow.</a:t>
            </a:r>
          </a:p>
          <a:p>
            <a:pPr>
              <a:spcAft>
                <a:spcPts val="1200"/>
              </a:spcAft>
              <a:defRPr sz="1700">
                <a:solidFill>
                  <a:srgbClr val="282D32"/>
                </a:solidFill>
              </a:defRPr>
            </a:pPr>
            <a:r>
              <a:t>Outputs → NPV, IRR, payback, downside/base/upside scenarios and ASP/utilization sensitivity.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Illustrative investment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7"/>
                </a:solidFill>
              </a:defRPr>
            </a:pPr>
            <a:r>
              <a:t>The model is auditable; absolute values are synthetic.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1463040"/>
          <a:ext cx="8412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20624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Driver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Base assumption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Initial CAPEX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₹220 crore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Expansion CAPEX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₹140 crore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Maintenance CAPEX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₹15 crore/year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Blended ASP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₹1.20 lakh/unit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Discount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Planning horizon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2027–2036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Key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7"/>
                </a:solidFill>
              </a:defRPr>
            </a:pPr>
            <a:r>
              <a:t>The largest risks sit between market interest and realized revenue.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103327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/>
                <a:gridCol w="5166360"/>
              </a:tblGrid>
              <a:tr h="600891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Management response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Customer nomination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Build evidence-based OEM/Tier-1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Qualification timing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Model PPAP/approval lead times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Utilization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Phase capacity; set expansion thresholds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Pricing / price-down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Validate ASP and contractual economics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Technology transition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Assess EV exposure / stranded capability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CAPEX / tooling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Obtain supplier and engineering estimates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Decision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7"/>
                </a:solidFill>
              </a:defRPr>
            </a:pPr>
            <a:r>
              <a:t>Investment approval should be milestone-based.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2D32"/>
                </a:solidFill>
              </a:defRPr>
            </a:pPr>
            <a:r>
              <a:t>1. Confirm component family and customer value proposition.</a:t>
            </a:r>
          </a:p>
          <a:p>
            <a:pPr>
              <a:spcAft>
                <a:spcPts val="1200"/>
              </a:spcAft>
              <a:defRPr sz="1800">
                <a:solidFill>
                  <a:srgbClr val="282D32"/>
                </a:solidFill>
              </a:defRPr>
            </a:pPr>
            <a:r>
              <a:t>2. Validate demand with customer-level evidence.</a:t>
            </a:r>
          </a:p>
          <a:p>
            <a:pPr>
              <a:spcAft>
                <a:spcPts val="1200"/>
              </a:spcAft>
              <a:defRPr sz="1800">
                <a:solidFill>
                  <a:srgbClr val="282D32"/>
                </a:solidFill>
              </a:defRPr>
            </a:pPr>
            <a:r>
              <a:t>3. Complete technical, qualification and tooling diligence.</a:t>
            </a:r>
          </a:p>
          <a:p>
            <a:pPr>
              <a:spcAft>
                <a:spcPts val="1200"/>
              </a:spcAft>
              <a:defRPr sz="1800">
                <a:solidFill>
                  <a:srgbClr val="282D32"/>
                </a:solidFill>
              </a:defRPr>
            </a:pPr>
            <a:r>
              <a:t>4. Select entry route based on capability and speed requirements.</a:t>
            </a:r>
          </a:p>
          <a:p>
            <a:pPr>
              <a:spcAft>
                <a:spcPts val="1200"/>
              </a:spcAft>
              <a:defRPr sz="1800">
                <a:solidFill>
                  <a:srgbClr val="282D32"/>
                </a:solidFill>
              </a:defRPr>
            </a:pPr>
            <a:r>
              <a:t>5. Approve initial capacity against credible nominations.</a:t>
            </a:r>
          </a:p>
          <a:p>
            <a:pPr>
              <a:spcAft>
                <a:spcPts val="1200"/>
              </a:spcAft>
              <a:defRPr sz="1800">
                <a:solidFill>
                  <a:srgbClr val="282D32"/>
                </a:solidFill>
              </a:defRPr>
            </a:pPr>
            <a:r>
              <a:t>6. Release expansion CAPEX only after utilization and pipeline thresholds.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7"/>
                </a:solidFill>
              </a:defRPr>
            </a:pPr>
            <a:r>
              <a:t>Move from hypothesis to customer-backed investment.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25880"/>
          <a:ext cx="110642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7162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Timing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Actions</a:t>
                      </a:r>
                    </a:p>
                  </a:txBody>
                  <a:tcPr>
                    <a:solidFill>
                      <a:srgbClr val="1F2D3D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Validate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0–3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Customer interviews, component selection, pricing/competitor diligence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Design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3–6 months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Entry route, technical concept, partner screening, CAPEX estimates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Commit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6–9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Pipeline validation, investment approval, financing/contracts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Launch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9–24 months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Setup, tooling, qualification, ramp</a:t>
                      </a:r>
                    </a:p>
                  </a:txBody>
                  <a:tcPr>
                    <a:solidFill>
                      <a:srgbClr val="EBF1F7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Post-launch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D32"/>
                          </a:solidFill>
                        </a:defRPr>
                      </a:pPr>
                      <a:r>
                        <a:t>Utilization-led expansion and adjacencies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2D3D"/>
                </a:solidFill>
              </a:defRPr>
            </a:pPr>
            <a:r>
              <a:t>Management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7"/>
                </a:solidFill>
              </a:defRPr>
            </a:pPr>
            <a:r>
              <a:t>The strategy is focused, evidence-led and capital-disciplined.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82D32"/>
                </a:solidFill>
              </a:defRPr>
            </a:pPr>
            <a:r>
              <a:t>Do not enter a broad category solely because market growth is attractive.</a:t>
            </a:r>
          </a:p>
          <a:p>
            <a:pPr>
              <a:spcAft>
                <a:spcPts val="1200"/>
              </a:spcAft>
              <a:defRPr sz="1900">
                <a:solidFill>
                  <a:srgbClr val="282D32"/>
                </a:solidFill>
              </a:defRPr>
            </a:pPr>
            <a:r>
              <a:t>Select a component family where customer access and capability create a credible right-to-win.</a:t>
            </a:r>
          </a:p>
          <a:p>
            <a:pPr>
              <a:spcAft>
                <a:spcPts val="1200"/>
              </a:spcAft>
              <a:defRPr sz="1900">
                <a:solidFill>
                  <a:srgbClr val="282D32"/>
                </a:solidFill>
              </a:defRPr>
            </a:pPr>
            <a:r>
              <a:t>Use partnerships where they materially shorten the path to customers or technology.</a:t>
            </a:r>
          </a:p>
          <a:p>
            <a:pPr>
              <a:spcAft>
                <a:spcPts val="1200"/>
              </a:spcAft>
              <a:defRPr sz="1900">
                <a:solidFill>
                  <a:srgbClr val="282D32"/>
                </a:solidFill>
              </a:defRPr>
            </a:pPr>
            <a:r>
              <a:t>Treat capacity expansion as an option earned by commercial performance.</a:t>
            </a:r>
          </a:p>
          <a:p>
            <a:pPr>
              <a:spcAft>
                <a:spcPts val="1200"/>
              </a:spcAft>
              <a:defRPr sz="1900">
                <a:solidFill>
                  <a:srgbClr val="282D32"/>
                </a:solidFill>
              </a:defRPr>
            </a:pPr>
            <a:r>
              <a:t>Validate customer, pricing, tooling and qualification assumptions before final investment commitment.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